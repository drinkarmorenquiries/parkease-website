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kease_visual_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7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601968"/>
            <a:ext cx="11612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0EFF9"/>
                </a:solidFill>
                <a:latin typeface="Aptos"/>
              </a:defRPr>
            </a:pPr>
            <a:r>
              <a:t>CONCEPT VISUALISATION  •  Proposed product; prototype, performance, market claims and certification require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kease_visual_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7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601968"/>
            <a:ext cx="11612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0EFF9"/>
                </a:solidFill>
                <a:latin typeface="Aptos"/>
              </a:defRPr>
            </a:pPr>
            <a:r>
              <a:t>CONCEPT VISUALISATION  •  Proposed product; prototype, performance, market claims and certification require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kease_visual_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7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601968"/>
            <a:ext cx="11612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0EFF9"/>
                </a:solidFill>
                <a:latin typeface="Aptos"/>
              </a:defRPr>
            </a:pPr>
            <a:r>
              <a:t>CONCEPT VISUALISATION  •  Proposed product; prototype, performance, market claims and certification require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kease_visual_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7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601968"/>
            <a:ext cx="11612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0EFF9"/>
                </a:solidFill>
                <a:latin typeface="Aptos"/>
              </a:defRPr>
            </a:pPr>
            <a:r>
              <a:t>CONCEPT VISUALISATION  •  Proposed product; prototype, performance, market claims and certification require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kease_visual_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7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601968"/>
            <a:ext cx="11612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0EFF9"/>
                </a:solidFill>
                <a:latin typeface="Aptos"/>
              </a:defRPr>
            </a:pPr>
            <a:r>
              <a:t>CONCEPT VISUALISATION  •  Proposed product; prototype, performance, market claims and certification require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kease_visual_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7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601968"/>
            <a:ext cx="11612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0EFF9"/>
                </a:solidFill>
                <a:latin typeface="Aptos"/>
              </a:defRPr>
            </a:pPr>
            <a:r>
              <a:t>CONCEPT VISUALISATION  •  Proposed product; prototype, performance, market claims and certification require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kease_visual_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7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601968"/>
            <a:ext cx="11612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0EFF9"/>
                </a:solidFill>
                <a:latin typeface="Aptos"/>
              </a:defRPr>
            </a:pPr>
            <a:r>
              <a:t>CONCEPT VISUALISATION  •  Proposed product; prototype, performance, market claims and certification require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kease_visual_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7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601968"/>
            <a:ext cx="11612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0EFF9"/>
                </a:solidFill>
                <a:latin typeface="Aptos"/>
              </a:defRPr>
            </a:pPr>
            <a:r>
              <a:t>CONCEPT VISUALISATION  •  Proposed product; prototype, performance, market claims and certification require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kease_visual_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7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601968"/>
            <a:ext cx="11612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0EFF9"/>
                </a:solidFill>
                <a:latin typeface="Aptos"/>
              </a:defRPr>
            </a:pPr>
            <a:r>
              <a:t>CONCEPT VISUALISATION  •  Proposed product; prototype, performance, market claims and certification require 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kease_visual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7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601968"/>
            <a:ext cx="11612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0EFF9"/>
                </a:solidFill>
                <a:latin typeface="Aptos"/>
              </a:defRPr>
            </a:pPr>
            <a:r>
              <a:t>CONCEPT VISUALISATION  •  Proposed product; prototype, performance, market claims and certification require 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kease_visual_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7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601968"/>
            <a:ext cx="11612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0EFF9"/>
                </a:solidFill>
                <a:latin typeface="Aptos"/>
              </a:defRPr>
            </a:pPr>
            <a:r>
              <a:t>CONCEPT VISUALISATION  •  Proposed product; prototype, performance, market claims and certification require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kease_visual_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7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601968"/>
            <a:ext cx="11612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0EFF9"/>
                </a:solidFill>
                <a:latin typeface="Aptos"/>
              </a:defRPr>
            </a:pPr>
            <a:r>
              <a:t>CONCEPT VISUALISATION  •  Proposed product; prototype, performance, market claims and certification require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C8EF"/>
                </a:solidFill>
                <a:latin typeface="Aptos"/>
              </a:defRPr>
            </a:pPr>
            <a:r>
              <a:t>PARKEASE  /  INVESTOR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F4FAFF"/>
                </a:solidFill>
                <a:latin typeface="Aptos"/>
              </a:defRPr>
            </a:pPr>
            <a:r>
              <a:t>Investment thesis: what is proven and what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8CCDC"/>
                </a:solidFill>
                <a:latin typeface="Aptos"/>
              </a:defRPr>
            </a:pPr>
            <a:r>
              <a:t>A transparent early-stage opportunity, with technical milestones before commercial claims.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97480"/>
            <a:ext cx="3355848" cy="2560320"/>
          </a:xfrm>
          <a:prstGeom prst="roundRect">
            <a:avLst/>
          </a:prstGeom>
          <a:solidFill>
            <a:srgbClr val="12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971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5C8EF"/>
                </a:solidFill>
                <a:latin typeface="Aptos"/>
              </a:defRPr>
            </a:pPr>
            <a:r>
              <a:t>Established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3657600"/>
            <a:ext cx="2926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AFF"/>
                </a:solidFill>
                <a:latin typeface="Aptos"/>
              </a:defRPr>
            </a:pPr>
            <a:r>
              <a:t>Cable handling and physical access can make EV charging difficult for some disabled drivers.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2697480"/>
            <a:ext cx="3355848" cy="2560320"/>
          </a:xfrm>
          <a:prstGeom prst="roundRect">
            <a:avLst/>
          </a:prstGeom>
          <a:solidFill>
            <a:srgbClr val="12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971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5C8EF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657600"/>
            <a:ext cx="2926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AFF"/>
                </a:solidFill>
                <a:latin typeface="Aptos"/>
              </a:defRPr>
            </a:pPr>
            <a:r>
              <a:t>A ground coil and under-vehicle receiver could remove manual plug handling.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2697480"/>
            <a:ext cx="3355848" cy="2560320"/>
          </a:xfrm>
          <a:prstGeom prst="roundRect">
            <a:avLst/>
          </a:prstGeom>
          <a:solidFill>
            <a:srgbClr val="12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2971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5C8EF"/>
                </a:solidFill>
                <a:latin typeface="Aptos"/>
              </a:defRPr>
            </a:pPr>
            <a:r>
              <a:t>Still to 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3657600"/>
            <a:ext cx="2926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AFF"/>
                </a:solidFill>
                <a:latin typeface="Aptos"/>
              </a:defRPr>
            </a:pPr>
            <a:r>
              <a:t>Transfer efficiency, cost, vehicle compatibility, safety compliance and user acceptance.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7044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4FAFF"/>
                </a:solidFill>
                <a:latin typeface="Aptos"/>
              </a:defRPr>
            </a:pPr>
            <a:r>
              <a:t>No certified product, proven charging performance, commercial contracts or quantified market share are claimed.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C8EF"/>
                </a:solidFill>
                <a:latin typeface="Aptos"/>
              </a:defRPr>
            </a:pPr>
            <a:r>
              <a:t>PARKEASE  /  INVESTOR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F4FAFF"/>
                </a:solidFill>
                <a:latin typeface="Aptos"/>
              </a:defRPr>
            </a:pPr>
            <a:r>
              <a:t>Funding milestones and decision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8CCDC"/>
                </a:solidFill>
                <a:latin typeface="Aptos"/>
              </a:defRPr>
            </a:pPr>
            <a:r>
              <a:t>Investment should be tied to measurable engineering progress, not unverified forecasts.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2468880"/>
            <a:ext cx="10789920" cy="704088"/>
          </a:xfrm>
          <a:prstGeom prst="roundRect">
            <a:avLst/>
          </a:prstGeom>
          <a:solidFill>
            <a:srgbClr val="12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7860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C8EF"/>
                </a:solidFill>
                <a:latin typeface="Aptos"/>
              </a:defRPr>
            </a:pPr>
            <a:r>
              <a:t>01  FEASIBILITY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587752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4FAFF"/>
                </a:solidFill>
                <a:latin typeface="Aptos"/>
              </a:defRPr>
            </a:pPr>
            <a:r>
              <a:t>Electromagnetic simulation; receiver packaging; safety and regulatory gap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3310128"/>
            <a:ext cx="10789920" cy="704088"/>
          </a:xfrm>
          <a:prstGeom prst="roundRect">
            <a:avLst/>
          </a:prstGeom>
          <a:solidFill>
            <a:srgbClr val="12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1985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C8EF"/>
                </a:solidFill>
                <a:latin typeface="Aptos"/>
              </a:defRPr>
            </a:pPr>
            <a:r>
              <a:t>02  BENCH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4290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4FAFF"/>
                </a:solidFill>
                <a:latin typeface="Aptos"/>
              </a:defRPr>
            </a:pPr>
            <a:r>
              <a:t>Demonstrate controlled low-power transfer and quantify alignment and efficiency.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4151376"/>
            <a:ext cx="10789920" cy="704088"/>
          </a:xfrm>
          <a:prstGeom prst="roundRect">
            <a:avLst/>
          </a:prstGeom>
          <a:solidFill>
            <a:srgbClr val="12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6110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C8EF"/>
                </a:solidFill>
                <a:latin typeface="Aptos"/>
              </a:defRPr>
            </a:pPr>
            <a:r>
              <a:t>03  ENGINEERING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27024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4FAFF"/>
                </a:solidFill>
                <a:latin typeface="Aptos"/>
              </a:defRPr>
            </a:pPr>
            <a:r>
              <a:t>Integrate controls, thermal protection and foreign-object detection.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4992624"/>
            <a:ext cx="10789920" cy="704088"/>
          </a:xfrm>
          <a:prstGeom prst="roundRect">
            <a:avLst/>
          </a:prstGeom>
          <a:solidFill>
            <a:srgbClr val="12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0235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C8EF"/>
                </a:solidFill>
                <a:latin typeface="Aptos"/>
              </a:defRPr>
            </a:pPr>
            <a:r>
              <a:t>04  ACCESSIBILITY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111496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4FAFF"/>
                </a:solidFill>
                <a:latin typeface="Aptos"/>
              </a:defRPr>
            </a:pPr>
            <a:r>
              <a:t>Validate parking, authorisation, error recovery and charging with users.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6089904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4FAFF"/>
                </a:solidFill>
                <a:latin typeface="Aptos"/>
              </a:defRPr>
            </a:pPr>
            <a:r>
              <a:t>Investor decision: agree budget and capital requirement only after engineering quotations and scope approval.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C8EF"/>
                </a:solidFill>
                <a:latin typeface="Aptos"/>
              </a:defRPr>
            </a:pPr>
            <a:r>
              <a:t>PARKEASE  /  INVESTOR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F4FAFF"/>
                </a:solidFill>
                <a:latin typeface="Aptos"/>
              </a:defRPr>
            </a:pPr>
            <a:r>
              <a:t>Key investor questions to resolve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8CCDC"/>
                </a:solidFill>
                <a:latin typeface="Aptos"/>
              </a:defRPr>
            </a:pPr>
            <a:r>
              <a:t>Commercial assumptions requiring evidence before a priced funding round.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0487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C8EF"/>
                </a:solidFill>
                <a:latin typeface="Aptos"/>
              </a:defRPr>
            </a:pPr>
            <a:r>
              <a:t>Unit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8688" y="2404872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AFF"/>
                </a:solidFill>
                <a:latin typeface="Aptos"/>
              </a:defRPr>
            </a:pPr>
            <a:r>
              <a:t>Installed pad cost, receiver cost, maintenance and efficiency losses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063239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C8EF"/>
                </a:solidFill>
                <a:latin typeface="Aptos"/>
              </a:defRPr>
            </a:pPr>
            <a:r>
              <a:t>Compatibility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8688" y="3063239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AFF"/>
                </a:solidFill>
                <a:latin typeface="Aptos"/>
              </a:defRPr>
            </a:pPr>
            <a:r>
              <a:t>OEM integration, retrofit feasibility and interoperability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721608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C8EF"/>
                </a:solidFill>
                <a:latin typeface="Aptos"/>
              </a:defRPr>
            </a:pPr>
            <a:r>
              <a:t>Route to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8" y="372160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AFF"/>
                </a:solidFill>
                <a:latin typeface="Aptos"/>
              </a:defRPr>
            </a:pPr>
            <a:r>
              <a:t>Infrastructure partners, property owners and fleet operators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379976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C8EF"/>
                </a:solidFill>
                <a:latin typeface="Aptos"/>
              </a:defRPr>
            </a:pPr>
            <a:r>
              <a:t>Defensibility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4379976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AFF"/>
                </a:solidFill>
                <a:latin typeface="Aptos"/>
              </a:defRPr>
            </a:pPr>
            <a:r>
              <a:t>Patent landscape, freedom to operate and proprietary differentiation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038344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C8EF"/>
                </a:solidFill>
                <a:latin typeface="Aptos"/>
              </a:defRPr>
            </a:pPr>
            <a:r>
              <a:t>Adoption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5038344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AFF"/>
                </a:solidFill>
                <a:latin typeface="Aptos"/>
              </a:defRPr>
            </a:pPr>
            <a:r>
              <a:t>Accessibility trials, willingness to pay and buyer procurement cycles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6080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C8EF"/>
                </a:solidFill>
                <a:latin typeface="Aptos"/>
              </a:defRPr>
            </a:pPr>
            <a:r>
              <a:t>ParkEase — Just Park, We Will Take Charge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